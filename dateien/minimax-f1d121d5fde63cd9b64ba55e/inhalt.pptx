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werkduesseldorf/-/blob/e5bc5ec2af8be80a83e2a8be1c8f7508cfe57b3f/_posts/2026-10-29-wurzelschutz-pflege-dachbegruenung.md" TargetMode="External"/><Relationship Id="rId3" Type="http://schemas.openxmlformats.org/officeDocument/2006/relationships/hyperlink" Target="https://holzundhaus.github.io/dachwerkduesseldorf/dateien/minimax-f1d121d5fde63cd9b64ba55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Wurzelschutz und Pflege: Was nach der Dachbegrünung bleibt · Erklärende Präsentation</a:t>
            </a:r>
          </a:p>
        </p:txBody>
      </p:sp>
      <p:sp>
        <p:nvSpPr>
          <p:cNvPr id="3" name="Content Placeholder 2"/>
          <p:cNvSpPr>
            <a:spLocks noGrp="1"/>
          </p:cNvSpPr>
          <p:nvPr>
            <p:ph idx="1"/>
          </p:nvPr>
        </p:nvSpPr>
        <p:spPr/>
        <p:txBody>
          <a:bodyPr/>
          <a:lstStyle/>
          <a:p>
            <a:r>
              <a:t>Überblick: Eine Dachbegrünung ist mehr als eine Fläche mit Pflanzen und Substrat. Ihre Funktion hängt von einem durchdachten Aufbau ab: Wurzelschutz, Abdichtung, Drainage und Filterlage müssen zusammenspielen. Nach der Fertigstellung bleibt die Begrünung jedoch ein technisches System, das regelmäßig kontrolliert und gepflegt werden sollte. Der folgende Überblick zeigt, welche Schichten geschützt, welche Bereiche geprüft und welche Unterschiede zwischen extensiver und intensiver Begrünung bei der Pflege zu beachten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Wurzelschutz ist keine Abdichtung</a:t>
            </a:r>
          </a:p>
        </p:txBody>
      </p:sp>
      <p:sp>
        <p:nvSpPr>
          <p:cNvPr id="3" name="Content Placeholder 2"/>
          <p:cNvSpPr>
            <a:spLocks noGrp="1"/>
          </p:cNvSpPr>
          <p:nvPr>
            <p:ph idx="1"/>
          </p:nvPr>
        </p:nvSpPr>
        <p:spPr/>
        <p:txBody>
          <a:bodyPr/>
          <a:lstStyle/>
          <a:p>
            <a:pPr>
              <a:defRPr sz="1800"/>
            </a:pPr>
            <a:r>
              <a:t>Der Wurzelschutz bildet eine Barriere zwischen Vegetation und Substrat einerseits sowie der darunterliegenden Abdichtung andererseits. Er verhindert, dass Pflanzenwurzeln in die Abdichtung eindringen und sie beschädigen können. Wurzelschutzbahnen übernehmen dabei ausschließlich diese Trennfunktion; sie sind nicht mit der eigentlichen Abdichtung gleichzusetzen. Erst das Zusammenspiel beider Schichten ergibt den vollständigen Schutzaufbau. Besonders wichtig ist, dass der Aufbau bei späteren Umbauarbeiten auf der Dachfläche nicht beschädigt wird. Bei Arbeiten an der Begrünung sollten deshalb besonders die Bereiche mit Durchdringungen, Anschlüsse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Wurzelschutz ist keine Abdichtung</a:t>
            </a:r>
          </a:p>
        </p:txBody>
      </p:sp>
      <p:sp>
        <p:nvSpPr>
          <p:cNvPr id="3" name="Content Placeholder 2"/>
          <p:cNvSpPr>
            <a:spLocks noGrp="1"/>
          </p:cNvSpPr>
          <p:nvPr>
            <p:ph idx="1"/>
          </p:nvPr>
        </p:nvSpPr>
        <p:spPr/>
        <p:txBody>
          <a:bodyPr/>
          <a:lstStyle/>
          <a:p>
            <a:pPr>
              <a:defRPr sz="1800"/>
            </a:pPr>
            <a:r>
              <a:t>n und Rändern berücksichtigt werden. Weitere Grundlagen zu Aufbau und Pflege einer Dachbegrünung finden Sie in der [Übersicht zur Dachbegrünung](https://www.dachwerkduesseldorf.de/dachbegruenung/).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Drainage, Filter und zugängliche Abläufe</a:t>
            </a:r>
          </a:p>
        </p:txBody>
      </p:sp>
      <p:sp>
        <p:nvSpPr>
          <p:cNvPr id="3" name="Content Placeholder 2"/>
          <p:cNvSpPr>
            <a:spLocks noGrp="1"/>
          </p:cNvSpPr>
          <p:nvPr>
            <p:ph idx="1"/>
          </p:nvPr>
        </p:nvSpPr>
        <p:spPr/>
        <p:txBody>
          <a:bodyPr/>
          <a:lstStyle/>
          <a:p>
            <a:pPr>
              <a:defRPr sz="1800"/>
            </a:pPr>
            <a:r>
              <a:t>Unter dem Substrat sorgen Drainage- und Filterlagen für einen kontrollierten Wasserabfluss. Die Drainage leitet überschüssiges Wasser zu den Dachabläufen. Die Filterlage verhindert, dass Feinbestandteile aus dem Substrat die Drainageebene zusetzen und dadurch die Ableitung beeinträchtigen. Aus diesem Grund müssen die Kontrollbereiche an den Abläufen auch nach der Begrünung erreichbar bleiben. Bei der Planung ist deshalb zu klären, ob Aufbauhöhe, Substrat und Pflanzenbewuchs den Zugang zu den Abläufen nicht dauerhaft blockieren. Ebenso wichtig ist die regelmäßige Prüfung der Notentwässerung. Ein begrüntes Dach sollte nicht allein anhand des Pf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Drainage, Filter und zugängliche Abläufe</a:t>
            </a:r>
          </a:p>
        </p:txBody>
      </p:sp>
      <p:sp>
        <p:nvSpPr>
          <p:cNvPr id="3" name="Content Placeholder 2"/>
          <p:cNvSpPr>
            <a:spLocks noGrp="1"/>
          </p:cNvSpPr>
          <p:nvPr>
            <p:ph idx="1"/>
          </p:nvPr>
        </p:nvSpPr>
        <p:spPr/>
        <p:txBody>
          <a:bodyPr/>
          <a:lstStyle/>
          <a:p>
            <a:pPr>
              <a:defRPr sz="1800"/>
            </a:pPr>
            <a:r>
              <a:t>lanzenbestands beurteilt werden; Abläufe und Entwässerungswege gehören ebenfalls in die Kontrolle.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Pflegeaufgaben im Jahresverlauf</a:t>
            </a:r>
          </a:p>
        </p:txBody>
      </p:sp>
      <p:sp>
        <p:nvSpPr>
          <p:cNvPr id="3" name="Content Placeholder 2"/>
          <p:cNvSpPr>
            <a:spLocks noGrp="1"/>
          </p:cNvSpPr>
          <p:nvPr>
            <p:ph idx="1"/>
          </p:nvPr>
        </p:nvSpPr>
        <p:spPr/>
        <p:txBody>
          <a:bodyPr/>
          <a:lstStyle/>
          <a:p>
            <a:pPr>
              <a:defRPr sz="1800"/>
            </a:pPr>
            <a:r>
              <a:t>Begrünte Dächer sind pflegearm, aber nicht pflegefrei. Zu den typischen Aufgaben zählen die Prüfung von Abläufen und Notentwässerung auf Durchgängigkeit, das frühzeitige Entfernen ungewünschter Gehölze und störender Problemwurzeln sowie die Kontrolle der Substratfläche auf Erosion oder Setzungen. Außerdem sollten Randabschlüsse und Anschlüsse an Durchdringungen visuell überprüft werden. Diese Kontrollen helfen, kleine Schäden früh zu erkennen und die Funktion des gesamten Aufbaus zu erhalten. Für die Planung und Pflege ist es sinnvoll, feste Zuständigkeiten und Kontrollintervalle festzuhalten. So bleibt nachvollziehbar, wer das Dach betreut 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Pflegeaufgaben im Jahresverlauf</a:t>
            </a:r>
          </a:p>
        </p:txBody>
      </p:sp>
      <p:sp>
        <p:nvSpPr>
          <p:cNvPr id="3" name="Content Placeholder 2"/>
          <p:cNvSpPr>
            <a:spLocks noGrp="1"/>
          </p:cNvSpPr>
          <p:nvPr>
            <p:ph idx="1"/>
          </p:nvPr>
        </p:nvSpPr>
        <p:spPr/>
        <p:txBody>
          <a:bodyPr/>
          <a:lstStyle/>
          <a:p>
            <a:pPr>
              <a:defRPr sz="1800"/>
            </a:pPr>
            <a:r>
              <a:t>nd welche Maßnahmen bei Bedarf eingeleitet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Extensive und intensive Begrünung unterscheiden</a:t>
            </a:r>
          </a:p>
        </p:txBody>
      </p:sp>
      <p:sp>
        <p:nvSpPr>
          <p:cNvPr id="3" name="Content Placeholder 2"/>
          <p:cNvSpPr>
            <a:spLocks noGrp="1"/>
          </p:cNvSpPr>
          <p:nvPr>
            <p:ph idx="1"/>
          </p:nvPr>
        </p:nvSpPr>
        <p:spPr/>
        <p:txBody>
          <a:bodyPr/>
          <a:lstStyle/>
          <a:p>
            <a:pPr>
              <a:defRPr sz="1800"/>
            </a:pPr>
            <a:r>
              <a:t>Der Pflegeaufwand hängt vom Charakter der Begrünung ab. Extensive Begrünungen kommen mit einer geringeren Aufbauhöhe aus und werden typischerweise mit Sedumpflanzen und Gräsern angelegt. Da sie trockenheitsverträgliche Pflanzenarten verwenden, ist der Pflegebedarf vergleichsweise geringer. Intensive Begrünungen benötigen dagegen ein deutlicheres Bodenprofil und können Gehölze sowie Aufenthaltsflächen einbeziehen. Hier sind regelmäßige Eingriffe wie Rückschnitt und gegebenenfalls Bewässerung in Trockenperioden erforderlich. Die Auswahl des Begrünungstyps beeinflusst damit nicht nur die Gestaltung, sondern auch die späteren Pflegeabläufe. Wer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Extensive und intensive Begrünung unterscheiden</a:t>
            </a:r>
          </a:p>
        </p:txBody>
      </p:sp>
      <p:sp>
        <p:nvSpPr>
          <p:cNvPr id="3" name="Content Placeholder 2"/>
          <p:cNvSpPr>
            <a:spLocks noGrp="1"/>
          </p:cNvSpPr>
          <p:nvPr>
            <p:ph idx="1"/>
          </p:nvPr>
        </p:nvSpPr>
        <p:spPr/>
        <p:txBody>
          <a:bodyPr/>
          <a:lstStyle/>
          <a:p>
            <a:pPr>
              <a:defRPr sz="1800"/>
            </a:pPr>
            <a:r>
              <a:t>ie Unterschiede zwischen den beiden Systemen genauer prüfen möchte, erhält im [Beitrag zum Flachdach und zu Begrünungsarten](https://dachkonzeptnrw.wordpress.com/2026/10/14/flachdach-teilsanieren-voraussetzungen-grenzen/) eine ergänzende Gegenüberstellung.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Wurzelschutz und Pflege: Was nach der Dachbegrünung bleibt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