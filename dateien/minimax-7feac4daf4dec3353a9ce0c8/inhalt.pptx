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uesseldorf.wordpress.com/2026/10/10/flachdach-gefaelle-und-notentwaesserung-am-eigenen-dach-pruefen/" TargetMode="External"/><Relationship Id="rId3" Type="http://schemas.openxmlformats.org/officeDocument/2006/relationships/hyperlink" Target="https://holzundhaus.github.io/dachwerkduesseldorf/dateien/minimax-7feac4daf4dec3353a9ce0c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Gefälle und Notentwässerung am eigenen Dach einschätzen · Erklärende Präsentation</a:t>
            </a:r>
          </a:p>
        </p:txBody>
      </p:sp>
      <p:sp>
        <p:nvSpPr>
          <p:cNvPr id="3" name="Content Placeholder 2"/>
          <p:cNvSpPr>
            <a:spLocks noGrp="1"/>
          </p:cNvSpPr>
          <p:nvPr>
            <p:ph idx="1"/>
          </p:nvPr>
        </p:nvSpPr>
        <p:spPr/>
        <p:txBody>
          <a:bodyPr/>
          <a:lstStyle/>
          <a:p>
            <a:r>
              <a:t>Überblick: Ein Flachdach lässt sich auch ohne betretene Dachfläche vorläufig einschätzen: vom Boden oder vom Fenster zeigen sich Pfützen, Wasserlinien, feuchte Verfärbungen und Hinweise auf zusätzliche Abläufe. Wichtig ist dabei die Unterscheidung zwischen dem normalen Gefälle und einer zweiten Entwässerung für Starkregen oder verstopfte Abläufe. Die folgende Checkliste hilft, den eigenen Zustand strukturiert zu beobachten und anschließend eine Fachprüfung vorzubereiten. Für einen ergänzenden Überblick bietet der Beitrag „Flachdach: Gefälle und Notentwässerung am eigenen Dach einschätzen“ weitere Hinweise.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Erste Beobachtung vom sicheren Standort</a:t>
            </a:r>
          </a:p>
        </p:txBody>
      </p:sp>
      <p:sp>
        <p:nvSpPr>
          <p:cNvPr id="3" name="Content Placeholder 2"/>
          <p:cNvSpPr>
            <a:spLocks noGrp="1"/>
          </p:cNvSpPr>
          <p:nvPr>
            <p:ph idx="1"/>
          </p:nvPr>
        </p:nvSpPr>
        <p:spPr/>
        <p:txBody>
          <a:bodyPr/>
          <a:lstStyle/>
          <a:p>
            <a:pPr>
              <a:defRPr sz="1800"/>
            </a:pPr>
            <a:r>
              <a:t>Beginnen Sie mit einer Regenphase und betrachten Sie das Flachdach anschließend aus sicherer Entfernung, etwa vom Fenster oder mit einem Zoomobjektiv. Bleiben flächige Pfützen über mehrere Stunden bestehen, kann das für eine problematische Senke sprechen. Dunkle Wasserlinien oder Schmutzränder an Wänden, Aufkantungen und Attika können auf stehendes Wasser oder häufiges Überlaufen hinweisen. Grüner, flächiger Bewuchs deutet auf dauerhaft feuchte Bereiche hin. Diese Merkmale beweisen nicht allein die Ursache, liefern aber konkrete Anhaltspunkte für die weitere Prüfung. Betreten Sie das Dach nicht und lehnen Sie sich nicht über die Brüstung, um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Erste Beobachtung vom sicheren Standort</a:t>
            </a:r>
          </a:p>
        </p:txBody>
      </p:sp>
      <p:sp>
        <p:nvSpPr>
          <p:cNvPr id="3" name="Content Placeholder 2"/>
          <p:cNvSpPr>
            <a:spLocks noGrp="1"/>
          </p:cNvSpPr>
          <p:nvPr>
            <p:ph idx="1"/>
          </p:nvPr>
        </p:nvSpPr>
        <p:spPr/>
        <p:txBody>
          <a:bodyPr/>
          <a:lstStyle/>
          <a:p>
            <a:pPr>
              <a:defRPr sz="1800"/>
            </a:pPr>
            <a:r>
              <a:t>Fotos zu machen.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ob der Abflussweg zusammenhängt</a:t>
            </a:r>
          </a:p>
        </p:txBody>
      </p:sp>
      <p:sp>
        <p:nvSpPr>
          <p:cNvPr id="3" name="Content Placeholder 2"/>
          <p:cNvSpPr>
            <a:spLocks noGrp="1"/>
          </p:cNvSpPr>
          <p:nvPr>
            <p:ph idx="1"/>
          </p:nvPr>
        </p:nvSpPr>
        <p:spPr/>
        <p:txBody>
          <a:bodyPr/>
          <a:lstStyle/>
          <a:p>
            <a:pPr>
              <a:defRPr sz="1800"/>
            </a:pPr>
            <a:r>
              <a:t>Schauen Sie danach, wohin das Wasser von den unterschiedlichen Dachflächen geführt wird. Erkennbare Dachabläufe geben Anhaltspunkte für die Lage der tiefsten Punkte. Wichtig ist, ob alle Bereiche tatsächlich zu einem Ablauf hin entwässern. Nachträglich aufgestellte Geräte, neue Brüstungen, zusätzliche Beläge oder eine PV-Anlage können den ursprünglichen Weg unterbrechen. Auch ein einzelner sichtbarer Ablauf sagt daher wenig über die Funktion der gesamten Dachfläche aus. Halten Sie bei der Beobachtung fest, ob Abläufe frei zugänglich wirken, ob Schmutz oder Bewuchs sichtbar sind und ob sich Wasser in bestimmten Bereichen sammelt. Diese Informa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ob der Abflussweg zusammenhängt</a:t>
            </a:r>
          </a:p>
        </p:txBody>
      </p:sp>
      <p:sp>
        <p:nvSpPr>
          <p:cNvPr id="3" name="Content Placeholder 2"/>
          <p:cNvSpPr>
            <a:spLocks noGrp="1"/>
          </p:cNvSpPr>
          <p:nvPr>
            <p:ph idx="1"/>
          </p:nvPr>
        </p:nvSpPr>
        <p:spPr/>
        <p:txBody>
          <a:bodyPr/>
          <a:lstStyle/>
          <a:p>
            <a:pPr>
              <a:defRPr sz="1800"/>
            </a:pPr>
            <a:r>
              <a:t>tionen sind für eine gezielte Dachwartung oder eine Prüfung der Abdichtung deutlich hilfreicher als eine allgemeine Beschreibung.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Hinweise auf eine unabhängige Notentwässerung</a:t>
            </a:r>
          </a:p>
        </p:txBody>
      </p:sp>
      <p:sp>
        <p:nvSpPr>
          <p:cNvPr id="3" name="Content Placeholder 2"/>
          <p:cNvSpPr>
            <a:spLocks noGrp="1"/>
          </p:cNvSpPr>
          <p:nvPr>
            <p:ph idx="1"/>
          </p:nvPr>
        </p:nvSpPr>
        <p:spPr/>
        <p:txBody>
          <a:bodyPr/>
          <a:lstStyle/>
          <a:p>
            <a:pPr>
              <a:defRPr sz="1800"/>
            </a:pPr>
            <a:r>
              <a:t>Eine Notentwässerung soll das Wasser über einen zweiten, unabhängigen Weg ableiten, wenn die Hauptentwässerung bei Starkregen nicht genügt oder ein Ablauf verstopft ist. Suchen Sie nach zusätzlichen Ablaufstellen, die nicht zum Hauptentwässerungssystem gehören. Auch Öffnungen an der Attika, sogenannte Notüberläufe, können erkennbar sein. Ausschwitzen an der Fassade unterhalb solcher Öffnungen deutet darauf hin, dass dieser Weg bereits genutzt wurde. Zusätzliche Fallrohre oder Auslässe an der Fassade können ebenfalls zur Notentwässerung gehören. Aus sicherer Entfernung lässt sich jedoch nicht zuverlässig beurteilen, ob alle Öffnungen funktions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Hinweise auf eine unabhängige Notentwässerung</a:t>
            </a:r>
          </a:p>
        </p:txBody>
      </p:sp>
      <p:sp>
        <p:nvSpPr>
          <p:cNvPr id="3" name="Content Placeholder 2"/>
          <p:cNvSpPr>
            <a:spLocks noGrp="1"/>
          </p:cNvSpPr>
          <p:nvPr>
            <p:ph idx="1"/>
          </p:nvPr>
        </p:nvSpPr>
        <p:spPr/>
        <p:txBody>
          <a:bodyPr/>
          <a:lstStyle/>
          <a:p>
            <a:pPr>
              <a:defRPr sz="1800"/>
            </a:pPr>
            <a:r>
              <a:t>fähig sind, ob die Abläufe ausreichend bemessen wurden oder ob die Anlage bei regionalem Starkregen tatsächlich genügt.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Beobachtung nicht ersetzen kann</a:t>
            </a:r>
          </a:p>
        </p:txBody>
      </p:sp>
      <p:sp>
        <p:nvSpPr>
          <p:cNvPr id="3" name="Content Placeholder 2"/>
          <p:cNvSpPr>
            <a:spLocks noGrp="1"/>
          </p:cNvSpPr>
          <p:nvPr>
            <p:ph idx="1"/>
          </p:nvPr>
        </p:nvSpPr>
        <p:spPr/>
        <p:txBody>
          <a:bodyPr/>
          <a:lstStyle/>
          <a:p>
            <a:pPr>
              <a:defRPr sz="1800"/>
            </a:pPr>
            <a:r>
              <a:t>Die Sichtprüfung zeigt Symptome, nicht die technische Ursache. Ob ein Gefälle nur schwer erkennbar oder tatsächlich baulich unzureichend ist, lässt sich erst am Dach beurteilen. Dasselbe gilt für verschmutzte, zu kleine oder ungünstig angeordnete Abläufe. Herstellerunterlagen können die möglichen Systeme erklären, ersetzen aber keine Prüfung des vorhandenen Bestands. Für eine belastbare Aussage sind deshalb Dachnutzung, Belag, Lage der Abläufe, auffällige Pfützen und erkennbare Wasserlinien zu dokumentieren. Beschreiben Sie außerdem, ob die Beobachtung nur nach starkem Regen oder auch bei normalem Niederschlag auftritt. So kann eine Fachperso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Beobachtung nicht ersetzen kann</a:t>
            </a:r>
          </a:p>
        </p:txBody>
      </p:sp>
      <p:sp>
        <p:nvSpPr>
          <p:cNvPr id="3" name="Content Placeholder 2"/>
          <p:cNvSpPr>
            <a:spLocks noGrp="1"/>
          </p:cNvSpPr>
          <p:nvPr>
            <p:ph idx="1"/>
          </p:nvPr>
        </p:nvSpPr>
        <p:spPr/>
        <p:txBody>
          <a:bodyPr/>
          <a:lstStyle/>
          <a:p>
            <a:pPr>
              <a:defRPr sz="1800"/>
            </a:pPr>
            <a:r>
              <a:t>n unterscheiden, ob eher Wartung, eine Flachdachabdichtung oder eine umfassendere Sanierung infrage kommt.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vorbereiten und passende nächste Schritte wählen</a:t>
            </a:r>
          </a:p>
        </p:txBody>
      </p:sp>
      <p:sp>
        <p:nvSpPr>
          <p:cNvPr id="3" name="Content Placeholder 2"/>
          <p:cNvSpPr>
            <a:spLocks noGrp="1"/>
          </p:cNvSpPr>
          <p:nvPr>
            <p:ph idx="1"/>
          </p:nvPr>
        </p:nvSpPr>
        <p:spPr/>
        <p:txBody>
          <a:bodyPr/>
          <a:lstStyle/>
          <a:p>
            <a:pPr>
              <a:defRPr sz="1800"/>
            </a:pPr>
            <a:r>
              <a:t>Nach der Beobachtung sollte eine ausführliche Prüfung mit sicherem Zugang zum Dach erfolgen. Bei wiederkehrenden Pfützen, sichtbaren Wasserlinien, blockierten Abläufen oder fehlenden Hinweisen auf eine Notentwässerung ist eine gezielte Dachwartung sinnvoll. Bleibt das Wasser trotz freier Abläufe stehen, kann eine Prüfung von Gefälle und Abdichtung erforderlich werden. Der ergänzende Ratgeber „Flachdach: Gefälle und Notentwässerung am eigenen Dach einschätzen“ fasst die wichtigsten Beobachtungsmerkmale und Grenzen der Eigenprüfung zusammen. Bringen Sie zur Fachprüfung Fotos, Notizen zur Regenreaktion und Informationen zu Umbauten auf dem Dach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vorbereiten und passende nächste Schritte wählen</a:t>
            </a:r>
          </a:p>
        </p:txBody>
      </p:sp>
      <p:sp>
        <p:nvSpPr>
          <p:cNvPr id="3" name="Content Placeholder 2"/>
          <p:cNvSpPr>
            <a:spLocks noGrp="1"/>
          </p:cNvSpPr>
          <p:nvPr>
            <p:ph idx="1"/>
          </p:nvPr>
        </p:nvSpPr>
        <p:spPr/>
        <p:txBody>
          <a:bodyPr/>
          <a:lstStyle/>
          <a:p>
            <a:pPr>
              <a:defRPr sz="1800"/>
            </a:pPr>
            <a:r>
              <a:t>mit. So lässt sich der weitere Umfang besser eingrenzen, ohne dass Sie das Dach selbst betreten müssen.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Flachdach: Gefälle und Notentwässerung am eigenen Dach einschätzen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