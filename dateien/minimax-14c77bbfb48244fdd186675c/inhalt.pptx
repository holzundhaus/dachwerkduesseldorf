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duesseldorf/extensive-intensive-dachbegruenung-vergleich/" TargetMode="External"/><Relationship Id="rId3" Type="http://schemas.openxmlformats.org/officeDocument/2006/relationships/hyperlink" Target="https://holzundhaus.github.io/dachwerkduesseldorf/dateien/minimax-14c77bbfb48244fdd186675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Extensive und intensive Dachbegrünung: Aufbau, Pflege und Eignung im Vergleich · Erklärende Präsentation</a:t>
            </a:r>
          </a:p>
        </p:txBody>
      </p:sp>
      <p:sp>
        <p:nvSpPr>
          <p:cNvPr id="3" name="Content Placeholder 2"/>
          <p:cNvSpPr>
            <a:spLocks noGrp="1"/>
          </p:cNvSpPr>
          <p:nvPr>
            <p:ph idx="1"/>
          </p:nvPr>
        </p:nvSpPr>
        <p:spPr/>
        <p:txBody>
          <a:bodyPr/>
          <a:lstStyle/>
          <a:p>
            <a:r>
              <a:t>Überblick: Die Satelliten-Quelle zu Dachbegrünungen liefert eine klare Entscheidungsgrundlage: Extensive Begrünungen sind eher für Bestandsflächen mit geringer Tragreserve geeignet, intensive Begrünungen verlangen zusätzliche Statik, einen nutzbaren Zugang und regelmäßige Gartenpflege. Wer die Unterschiede versteht, kann sein Vorhaben frühzeitig an die tatsächlichen Gegebenheiten des Dachs anpassen.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Satelliten-Quelle: Extensive und intensive Dachbegrünung im Vergleich</a:t>
            </a:r>
          </a:p>
        </p:txBody>
      </p:sp>
      <p:sp>
        <p:nvSpPr>
          <p:cNvPr id="3" name="Content Placeholder 2"/>
          <p:cNvSpPr>
            <a:spLocks noGrp="1"/>
          </p:cNvSpPr>
          <p:nvPr>
            <p:ph idx="1"/>
          </p:nvPr>
        </p:nvSpPr>
        <p:spPr/>
        <p:txBody>
          <a:bodyPr/>
          <a:lstStyle/>
          <a:p>
            <a:pPr>
              <a:defRPr sz="1800"/>
            </a:pPr>
            <a:r>
              <a:t>Die zentrale Frage lautet nicht, welche Begrünungsform allgemein besser ist, sondern welche zum vorhandenen Dach passt. Entscheidend sind Tragfähigkeit, Zustand der Abdichtung, Lage der Abläufe, gewünschte Nutzung sowie die Frage, wer später für Pflege und Kontrollen verantwortlich ist. Ein ausführlicher Vergleich von Aufbau, Pflege und Eignung bietet der Beitrag über extensive und intensive Dachbegrünung.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Aufbau und Vegetation der extensiven Begrünung</a:t>
            </a:r>
          </a:p>
        </p:txBody>
      </p:sp>
      <p:sp>
        <p:nvSpPr>
          <p:cNvPr id="3" name="Content Placeholder 2"/>
          <p:cNvSpPr>
            <a:spLocks noGrp="1"/>
          </p:cNvSpPr>
          <p:nvPr>
            <p:ph idx="1"/>
          </p:nvPr>
        </p:nvSpPr>
        <p:spPr/>
        <p:txBody>
          <a:bodyPr/>
          <a:lstStyle/>
          <a:p>
            <a:pPr>
              <a:defRPr sz="1800"/>
            </a:pPr>
            <a:r>
              <a:t>Eine extensive Begrünung ist niedrig aufgebaut und verwendet eine geringe Substratstärke. Typisch sind Sedum-Matten, Moose und trockenheitsverträgliche Kräuter. Zwischen Abdichtung und Vegetation liegen Wurzelschutz, Drän- und Filterlage sowie das dünne Substrat. Die Pflege umfasst mindestens ein bis zwei Wartungsgänge jährlich: Abläufe werden kontrolliert, unerwünschter Aufwuchs entfernt und Kahlstellen nachgesehen. Extensiv bedeutet also nicht pflegefrei.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eine intensive Dachbegrünung zusätzlich verlangt</a:t>
            </a:r>
          </a:p>
        </p:txBody>
      </p:sp>
      <p:sp>
        <p:nvSpPr>
          <p:cNvPr id="3" name="Content Placeholder 2"/>
          <p:cNvSpPr>
            <a:spLocks noGrp="1"/>
          </p:cNvSpPr>
          <p:nvPr>
            <p:ph idx="1"/>
          </p:nvPr>
        </p:nvSpPr>
        <p:spPr/>
        <p:txBody>
          <a:bodyPr/>
          <a:lstStyle/>
          <a:p>
            <a:pPr>
              <a:defRPr sz="1800"/>
            </a:pPr>
            <a:r>
              <a:t>Eine intensive Begrünung wird wie ein Garten behandelt. Sie sieht höhere Substratstärken, eine stärkere Dränage, häufig zusätzliche Bewässerungstechnik sowie Rasen, Sträucher, Beete oder Wege vor. Auch Randbereiche, Anschlüsse und die Zugänglichkeit der Abläufe müssen früh festgelegt werden. Die Pflegeintensität ist deutlich höher und sollte personell sowie zeitlich bereits vor der Beauftragung geklärt sein.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Lasten und Entwässerung als harte Planungsfilter</a:t>
            </a:r>
          </a:p>
        </p:txBody>
      </p:sp>
      <p:sp>
        <p:nvSpPr>
          <p:cNvPr id="3" name="Content Placeholder 2"/>
          <p:cNvSpPr>
            <a:spLocks noGrp="1"/>
          </p:cNvSpPr>
          <p:nvPr>
            <p:ph idx="1"/>
          </p:nvPr>
        </p:nvSpPr>
        <p:spPr/>
        <p:txBody>
          <a:bodyPr/>
          <a:lstStyle/>
          <a:p>
            <a:pPr>
              <a:defRPr sz="1800"/>
            </a:pPr>
            <a:r>
              <a:t>Substrat und gespeichertes Wasser bestimmen die zusätzliche Last. Wassergesättigte Substrate wiegen ein Vielfaches ihres trockenen Zustands. Ohne dokumentierte Tragfähigkeit ist deshalb keine der beiden Form seriös planbar. Steht ohnehin eine Sanierung der Abdichtung an, gehören Abdichtung, Entwässerung und Statikprüfung an den Anfang der Planung. Substrat und Wurzeln dürfen weder Abläufe noch Notentwässerung blockieren; ein funktionierender Wartungszugang ist deshalb von Anfang an einzuplanen.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Form anhand des Dachs auswählen</a:t>
            </a:r>
          </a:p>
        </p:txBody>
      </p:sp>
      <p:sp>
        <p:nvSpPr>
          <p:cNvPr id="3" name="Content Placeholder 2"/>
          <p:cNvSpPr>
            <a:spLocks noGrp="1"/>
          </p:cNvSpPr>
          <p:nvPr>
            <p:ph idx="1"/>
          </p:nvPr>
        </p:nvSpPr>
        <p:spPr/>
        <p:txBody>
          <a:bodyPr/>
          <a:lstStyle/>
          <a:p>
            <a:pPr>
              <a:defRPr sz="1800"/>
            </a:pPr>
            <a:r>
              <a:t>Für ein Bestandsdach mit einfacher Tragreserve, ohne gewünschten Aufenthalt und mit begrenztem Pflegebedarf spricht die extensive Form. Eine intensive Begrünung ist möglich, wenn eine höhere Tragfähigkeit nachgewiesen ist, die Fläche genutzt werden soll und regelmäßige Pflege möglich ist. Bei einer Kombination mit Photovoltaik müssen Lasten, Abstände und Wartungswege gemeinsam abgestimmt werden. Wer Fördermöglichkeiten prüfen möchte, findet im passenden Beitrag zur Förderung und Eignungsprüfung einen weiteren Einstieg.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Extensive und intensive Dachbegrünung: Aufbau, Pflege und Eignung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