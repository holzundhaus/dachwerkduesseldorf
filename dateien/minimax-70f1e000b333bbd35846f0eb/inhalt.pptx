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blogspot.com/2026/10/vor-der-dachreparatur-so-grenzen-sie.html" TargetMode="External"/><Relationship Id="rId3" Type="http://schemas.openxmlformats.org/officeDocument/2006/relationships/hyperlink" Target="https://holzundhaus.github.io/dachwerkduesseldorf/dateien/minimax-70f1e000b333bbd35846f0e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Dachreparatur: So grenzen Sie den tatsächlichen Schaden ein · Erklärende Präsentation</a:t>
            </a:r>
          </a:p>
        </p:txBody>
      </p:sp>
      <p:sp>
        <p:nvSpPr>
          <p:cNvPr id="3" name="Content Placeholder 2"/>
          <p:cNvSpPr>
            <a:spLocks noGrp="1"/>
          </p:cNvSpPr>
          <p:nvPr>
            <p:ph idx="1"/>
          </p:nvPr>
        </p:nvSpPr>
        <p:spPr/>
        <p:txBody>
          <a:bodyPr/>
          <a:lstStyle/>
          <a:p>
            <a:r>
              <a:t>Überblick: Wer vor einer Dachreparatur nur den sichtbaren Fleck betrachtet, kennt meist die Feuchtefolge, aber noch nicht die eigentliche Schadenstelle. Wasser kann an einer Naht, einem Anschluss oder einer Durchdringung eintreten, sich zwischen Bauteilen und Schritten ausbreiten und erst an einer Wand oder Decke sichtbar werden. Für eine präzise Dachreparatur hilft es deshalb, den Schaden systematisch einzugrenzen. Die wichtigsten Beobachtungen lassen sich schon vor der Anfrage festhalten: Wann tritt die Feuchte auf, wie verändert sie sich und wo befindet sie sich im Gebäude?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Feuchtespur und Ursache nicht verwechseln</a:t>
            </a:r>
          </a:p>
        </p:txBody>
      </p:sp>
      <p:sp>
        <p:nvSpPr>
          <p:cNvPr id="3" name="Content Placeholder 2"/>
          <p:cNvSpPr>
            <a:spLocks noGrp="1"/>
          </p:cNvSpPr>
          <p:nvPr>
            <p:ph idx="1"/>
          </p:nvPr>
        </p:nvSpPr>
        <p:spPr/>
        <p:txBody>
          <a:bodyPr/>
          <a:lstStyle/>
          <a:p>
            <a:pPr>
              <a:defRPr sz="1800"/>
            </a:pPr>
            <a:r>
              <a:t>Der Ort des Flecks bezeichnet nicht automatisch die undichte Stelle. Trifft Wasser beispielsweise oberhalb einer Deckenfläche ein und wird erst an einer weiter unten liegenden Wand sichtbar, kann der tatsächliche Eintritt höher oder seitlich liegen. Besonders mehrere betroffene Bauteile – etwa ein Ziegel, eine Unterdeckung und ein Anschluss – erfordern eine genaue Einordnung. Notieren Sie deshalb, ob die Feuchte direkt unter einem Dachbauteil, versetzt davon oder an mehreren nicht benachbarten Stellen auftritt. Die Kombination aus Raumlage und konstruktivem Aufbau hilft dabei, punktuelle Leckagen von einem größeren, flächig betroffenen Bereic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Feuchtespur und Ursache nicht verwechseln</a:t>
            </a:r>
          </a:p>
        </p:txBody>
      </p:sp>
      <p:sp>
        <p:nvSpPr>
          <p:cNvPr id="3" name="Content Placeholder 2"/>
          <p:cNvSpPr>
            <a:spLocks noGrp="1"/>
          </p:cNvSpPr>
          <p:nvPr>
            <p:ph idx="1"/>
          </p:nvPr>
        </p:nvSpPr>
        <p:spPr/>
        <p:txBody>
          <a:bodyPr/>
          <a:lstStyle/>
          <a:p>
            <a:pPr>
              <a:defRPr sz="1800"/>
            </a:pPr>
            <a:r>
              <a:t>h zu unterscheiden.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 und Zeitverlauf als Hinweise nutzen</a:t>
            </a:r>
          </a:p>
        </p:txBody>
      </p:sp>
      <p:sp>
        <p:nvSpPr>
          <p:cNvPr id="3" name="Content Placeholder 2"/>
          <p:cNvSpPr>
            <a:spLocks noGrp="1"/>
          </p:cNvSpPr>
          <p:nvPr>
            <p:ph idx="1"/>
          </p:nvPr>
        </p:nvSpPr>
        <p:spPr/>
        <p:txBody>
          <a:bodyPr/>
          <a:lstStyle/>
          <a:p>
            <a:pPr>
              <a:defRPr sz="1800"/>
            </a:pPr>
            <a:r>
              <a:t>Achten Sie darauf, bei welchem Wetter die Spur erscheint. Auftreten bei Schlagregen oder Sturm deutet eher auf Anschlüsse, Durchdringungen oder Stöße hin. Bei Tauwetter nach Frost kann ein Problem an einer Naht oder einem Falz relevant werden, der sich bei Kälte bewegt hat. Eine Feuchte, die auch in trockenen oder warmen Phasen sichtbar bleibt, sollte dagegen im Hinblick auf Kondensat und andere Ursachen geprüft werden. Beobachten Sie außerdem, ob sich eine frische, dunkle Stelle nach Regen vergrößert, ob eine hellere Verfärbung konstant bleibt und ob die Spur nach Trockenperioden verschwindet. Wird sie dauerhaft sichtbar, sollte nicht allein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 und Zeitverlauf als Hinweise nutzen</a:t>
            </a:r>
          </a:p>
        </p:txBody>
      </p:sp>
      <p:sp>
        <p:nvSpPr>
          <p:cNvPr id="3" name="Content Placeholder 2"/>
          <p:cNvSpPr>
            <a:spLocks noGrp="1"/>
          </p:cNvSpPr>
          <p:nvPr>
            <p:ph idx="1"/>
          </p:nvPr>
        </p:nvSpPr>
        <p:spPr/>
        <p:txBody>
          <a:bodyPr/>
          <a:lstStyle/>
          <a:p>
            <a:pPr>
              <a:defRPr sz="1800"/>
            </a:pPr>
            <a:r>
              <a:t> die letzte sichtbare Feuchte als Ursache behandelt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Dachreparatur strukturiert sammeln</a:t>
            </a:r>
          </a:p>
        </p:txBody>
      </p:sp>
      <p:sp>
        <p:nvSpPr>
          <p:cNvPr id="3" name="Content Placeholder 2"/>
          <p:cNvSpPr>
            <a:spLocks noGrp="1"/>
          </p:cNvSpPr>
          <p:nvPr>
            <p:ph idx="1"/>
          </p:nvPr>
        </p:nvSpPr>
        <p:spPr/>
        <p:txBody>
          <a:bodyPr/>
          <a:lstStyle/>
          <a:p>
            <a:pPr>
              <a:defRPr sz="1800"/>
            </a:pPr>
            <a:r>
              <a:t>Für die Anfrage zur Dachreparatur sollten Sie Ort und Etage, Wand- oder Deckenlage, erstes Auftreten, zeitlichen Verlauf und Wetterbezug dokumentieren. Hilfreich ist außerdem, bekannte Reparaturen oder Eindeckungsarbeiten am betroffenen Bereich zu nennen. Fotos aus dem Innenraum sowie – sofern gefahrlos möglich – von der Außenseite oder aus dem Spitzboden können die Beobachtung ergänzen. Eigene Begehungen des Dachs, das Betreten von Steilhängen und die Beurteilung der Unterdeckung gehören nicht in Verantwortung von Eigentümern. Zugang, Absturzsicherung und fachliche Prüfung sollten bei den zuständigen Fachkräften bleiben. So lässt sich eine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Dachreparatur strukturiert sammeln</a:t>
            </a:r>
          </a:p>
        </p:txBody>
      </p:sp>
      <p:sp>
        <p:nvSpPr>
          <p:cNvPr id="3" name="Content Placeholder 2"/>
          <p:cNvSpPr>
            <a:spLocks noGrp="1"/>
          </p:cNvSpPr>
          <p:nvPr>
            <p:ph idx="1"/>
          </p:nvPr>
        </p:nvSpPr>
        <p:spPr/>
        <p:txBody>
          <a:bodyPr/>
          <a:lstStyle/>
          <a:p>
            <a:pPr>
              <a:defRPr sz="1800"/>
            </a:pPr>
            <a:r>
              <a:t>nfrage für eine Dachreparatur sachlicher und vergleichbarer formulieren.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Akuten Wassereintritt zuerst sichern</a:t>
            </a:r>
          </a:p>
        </p:txBody>
      </p:sp>
      <p:sp>
        <p:nvSpPr>
          <p:cNvPr id="3" name="Content Placeholder 2"/>
          <p:cNvSpPr>
            <a:spLocks noGrp="1"/>
          </p:cNvSpPr>
          <p:nvPr>
            <p:ph idx="1"/>
          </p:nvPr>
        </p:nvSpPr>
        <p:spPr/>
        <p:txBody>
          <a:bodyPr/>
          <a:lstStyle/>
          <a:p>
            <a:pPr>
              <a:defRPr sz="1800"/>
            </a:pPr>
            <a:r>
              <a:t>Wenn Wasser aktiv durch das Dach dringt, hat die vorläufige Sicherung Vorrang vor einer umfassenden Instandsetzung. Eine Notmaßnahme kann sinnvoll sein, um weiteren Eintritt zu stoppen oder zu begrenzen. Die eigentliche Reparatur bleibt anschließend ein eigener Schritt. Dafür ist die vorab durchgeführte Eingrenzung wichtig, weil eine einzelne Stelle ohne Ursachenklärung möglicherweise nicht nachhaltig abgedichtet wird. Dokumentiert werden sollte, welcher Befund bearbeitet wurde und an welcher Stelle gearbeitet wurde. Hilfreiche weiterführende Ratgeber können dabei unterstützen, typische Feuchtesituationen einzuordnen und die Anfrage vorzubere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Akuten Wassereintritt zuerst sichern</a:t>
            </a:r>
          </a:p>
        </p:txBody>
      </p:sp>
      <p:sp>
        <p:nvSpPr>
          <p:cNvPr id="3" name="Content Placeholder 2"/>
          <p:cNvSpPr>
            <a:spLocks noGrp="1"/>
          </p:cNvSpPr>
          <p:nvPr>
            <p:ph idx="1"/>
          </p:nvPr>
        </p:nvSpPr>
        <p:spPr/>
        <p:txBody>
          <a:bodyPr/>
          <a:lstStyle/>
          <a:p>
            <a:pPr>
              <a:defRPr sz="1800"/>
            </a:pPr>
            <a:r>
              <a:t>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Einzelreparatur oder größeres Konzept unterscheiden</a:t>
            </a:r>
          </a:p>
        </p:txBody>
      </p:sp>
      <p:sp>
        <p:nvSpPr>
          <p:cNvPr id="3" name="Content Placeholder 2"/>
          <p:cNvSpPr>
            <a:spLocks noGrp="1"/>
          </p:cNvSpPr>
          <p:nvPr>
            <p:ph idx="1"/>
          </p:nvPr>
        </p:nvSpPr>
        <p:spPr/>
        <p:txBody>
          <a:bodyPr/>
          <a:lstStyle/>
          <a:p>
            <a:pPr>
              <a:defRPr sz="1800"/>
            </a:pPr>
            <a:r>
              <a:t>Nicht jede sichtbare Spur führt zwingend zu einer einzelnen Reparatur. Gehört die betroffene Stelle zu einem intakten Umfeld, kann eine gezielte Instandsetzung genügen. Ist der umgebende Aufbau dagegen bereits gealtert oder sind mehrere Bereiche betroffen, sollte ein Sanierungskonzept geprüft werden. Diese Entscheidung lässt sich nicht allein anhand des Flecks treffen. Entscheidend sind der gesamte Schadensbereich, die beteiligten Bauteile, bisherige Arbeiten und die gesicherte Ursache. Wer vor der Anfrage klärt, wo die Feuchte Folge und wo sie Ursache ist, vermeidet doppelte Arbeit und schafft eine belastbare Grundlage für das weitere Vorgeh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Einzelreparatur oder größeres Konzept unterscheiden</a:t>
            </a:r>
          </a:p>
        </p:txBody>
      </p:sp>
      <p:sp>
        <p:nvSpPr>
          <p:cNvPr id="3" name="Content Placeholder 2"/>
          <p:cNvSpPr>
            <a:spLocks noGrp="1"/>
          </p:cNvSpPr>
          <p:nvPr>
            <p:ph idx="1"/>
          </p:nvPr>
        </p:nvSpPr>
        <p:spPr/>
        <p:txBody>
          <a:bodyPr/>
          <a:lstStyle/>
          <a:p>
            <a:pPr>
              <a:defRPr sz="1800"/>
            </a:pPr>
            <a:r>
              <a: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Vor der Dachreparatur: So grenzen Sie den tatsächlichen Schaden ein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